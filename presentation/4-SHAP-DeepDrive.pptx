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1" r:id="rId3"/>
    <p:sldId id="257" r:id="rId4"/>
    <p:sldId id="448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445" r:id="rId15"/>
    <p:sldId id="446" r:id="rId16"/>
    <p:sldId id="447" r:id="rId17"/>
    <p:sldId id="435" r:id="rId18"/>
    <p:sldId id="34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>
        <p:scale>
          <a:sx n="92" d="100"/>
          <a:sy n="92" d="100"/>
        </p:scale>
        <p:origin x="307" y="-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55B4A6-F6ED-41A2-91E7-92EA26A78E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8005F-CED1-4621-9110-C690C6CDC9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A3DF1-419F-4396-AE23-2FADD3683DAD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7E25C-2D8D-41AA-8748-E6D60FE01D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82668-E5B5-46EE-9C93-F2CE7B1769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5D8C8-2A11-4FB2-BD5D-E4BDAB38F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7821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6DFB3-D709-4817-8757-3B1955B6C31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57952-1A80-46FA-8548-97740383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150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BC2B-6A05-6DAB-6C3A-C622D74F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6A37A-0260-8651-0642-5F6FFC86E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B0843-53AF-4FC4-ADB0-C4F97A456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366B662-E848-8BC3-E2AE-63B2F303B7D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2F70D-7960-1D1A-C6E9-FD9652512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640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C41B-E9E9-489D-B260-27118C51A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8C4B8-CEE0-48BD-992B-814D7C429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E0641-E2DC-4375-B272-231AFBA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9D9-0201-491D-850A-4E48B8CC6FB5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9137-1D30-43E0-932D-1EB873CE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B4F9-BFE1-4F47-8160-278C84DA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8CD0-CC09-4685-A6E3-C9BBA661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0423-F94B-4A20-BA08-6E113BA16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F264F-4D1D-42F9-B1ED-BEA4739C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5BB6-7F57-4C30-AECB-DA0D27197DA6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44A2-22EA-44B0-B219-7CB71AB8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8506A-7EAE-470A-B749-0B43FF1F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08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BCC-6658-4BBB-B1FE-8A51C995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09F01-5596-4590-B4B8-A77BBB859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DB20-F694-46E7-BA2E-E379D0D0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C85B2-39A4-4814-A92A-2973CDC9102C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4FA37-DFF6-49FE-A511-D986E443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922A-582D-412F-8D08-1961EBDE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2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A0B4-7DDD-456B-868E-04A488A1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254B-1F41-4F92-8B68-9C674549E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EA022-5DE4-44D3-9F22-F814D27A1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B7E97-0CE2-40EF-9035-BABECA59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93A2-8117-48A4-9605-23EE94DF99C3}" type="datetime1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F199-F1D8-4F41-9729-74072316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38860-A321-47E1-A901-9A31ACA8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8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48B7-EEB8-49FB-A0B5-6537290A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DACF7-9B14-4029-B2E7-54EE46CF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BA818-DC40-495F-BA3A-ECE379EED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8DDCE-3A75-4288-862A-FEC0EAD1A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4CC0A-DC5F-415B-8B31-0ABF5A836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0FD2E-C50D-41E4-B63A-E027608F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C8FC-84AC-4C10-ACC0-BD7AF63F7665}" type="datetime1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C346B-A211-4AB4-8CD0-78AECC55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B9F66-7773-41D1-BAC7-1779C683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0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23AA-C80A-48BC-AEC6-7DEB4852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2A346-0D1B-4256-9132-CB879CE9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B640-F7B0-4E9F-B479-2364AFCFD561}" type="datetime1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8BFEC-7F4E-42A1-8F8B-C963212F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7053D-177C-48FE-94BB-7D2BD721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16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B7B5B-8618-4598-A42F-E77A5E7A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55B1-F658-4E21-B29B-5C46404C65AF}" type="datetime1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4A9AA-34C8-47A8-8FB6-82529E44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D80E-88A3-4F3A-9F53-55EC3AC3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71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D3AA-A5E3-4783-9DBA-B91ABD3F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636D-3601-4BD1-ACEB-BBC34281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0A2C8-4279-438E-87E0-A01F76262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60658-7026-4AFD-BCDA-22137F6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127A-0CB8-41EB-AC70-2B05AA20CEB4}" type="datetime1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0149A-2D3F-414A-8383-27F6EC7B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4C9F-0C49-4ED0-AEAE-CBB1E79D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2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40B7-5D4B-4A58-B13A-74F6D61D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FA2D4-EE9C-48E1-87D3-42D611AA0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3D02-5D72-4538-BA17-9869B87C7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D4831-4453-4D03-A9AA-7C6196C8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169A-C6D0-47B8-83D4-F4CEB7EC43EC}" type="datetime1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6C28A-74DE-4994-8DF8-7BF27E18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F87BE-663F-48C0-BE8A-EAA4B768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62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CFDE-0066-424F-8AD8-B8B63F4B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67B97-FA2A-4591-8DD4-3BF59637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1EE0-3A36-4DA0-8C70-B2F55A23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E471-E374-414F-ACAE-271604EC180C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91D9F-1AA2-4DC0-ABDD-E386B07A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10BF8-EA9D-4436-8B54-135D36BD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47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BC0A2-01C6-47DB-93BE-DB08598B6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C7C24-10B7-4275-A1D4-1C14E6189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6E22-37F2-4165-A9BB-2109D041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09059-F8BB-4ED7-ABCA-C2BF3D4995E6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818C-8238-4212-9546-A9BA9398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79E6-8F9D-4249-B9F7-352C3C52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094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1CC49-6A6E-4458-B7D5-F57D53CA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71B4D-5EE4-4B37-8114-5D368C160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161EA-61A4-45FE-B63D-DC877E80F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274BC-1E24-44A8-9040-DB21F7AFD224}" type="datetime1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97DB-E57A-4B4A-A292-2720D15BC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C2572-16A3-43B1-A9DF-517466262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4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ushalya.tech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direct?event=video_description&amp;redir_token=QUFFLUhqa0lZVTZ0OEpnRFVuNjlvWTVTanRhZ0NUT2Nqd3xBQ3Jtc0tseDBZRXgwZG9TYmxPRmZNZnJkT1ZfNTFCR3RYNXVkSEI1ZVUwWk9PcHFibjI1TUFxRS13Q0hEUG5RRWIwcjRMcC1DMWVuX3VCUzVfNkFKVklIXzlLVVlHUndQYlpFdVlOMWtyU2cwQXJWaXZZVnpXOA&amp;q=https%3A%2F%2Farxiv.org%2Fabs%2F1602.04938&amp;v=IIgTulcEUF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redirect?event=video_description&amp;redir_token=QUFFLUhqbVNRbVE0ZDFoV2VtM2hhQk5oRWpET3ZMWTR2Z3xBQ3Jtc0ttVjFzQjUxdE1RblBVQlgzejk1ZmFnM1dkQkJuOF82WFNnT0ZhdFdGbEhlY0NMMy1HWExodHZKUGFudGNjaXRkZHpURHRXdEZSbjFBSHlUQ0huODdiSnVRTlV0cXZ4UVotczh1U2JkNmU2RjdydkxJYw&amp;q=https%3A%2F%2Fshap.readthedocs.io%2Fen%2Flatest%2F&amp;v=IIgTulcEUFw" TargetMode="External"/><Relationship Id="rId4" Type="http://schemas.openxmlformats.org/officeDocument/2006/relationships/hyperlink" Target="https://www.youtube.com/redirect?event=video_description&amp;redir_token=QUFFLUhqbmNTOWhwRUdHRzZBUjV5Z0pFZlZxM29zUlVZZ3xBQ3Jtc0trdVV1UXZBZ3JzRW5fZS1DaHJpYzQxeUdXcUhyNDdDazJEV0ZzZkIxamtJanVkYmc1cmV0bGpfZUNjNENWbC1UcFlnVTJqdmlyLUVUekpFZExmQ3ctYzU4V2RmT2dwQ1BCQ3AtUnlPbmVJdkZxbE5Ccw&amp;q=https%3A%2F%2Fgithub.com%2Fshap%2Fshap&amp;v=IIgTulcEUFw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48"/>
            <a:ext cx="9144000" cy="2006384"/>
          </a:xfrm>
        </p:spPr>
        <p:txBody>
          <a:bodyPr>
            <a:norm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SHAP Deep drive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br>
              <a:rPr lang="en-US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 Prasad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www.kaushalya.tech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0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D3BD-21ED-4200-A35D-5864E79F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E32C-01B9-4D24-8F7D-680E6749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Raghu Prasad – BE, MS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of 30 years of experience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7 years as a lecturer in an Engineering College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23 Years into IT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companies like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CISCO,CSC,ICICI,First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Apex – NTT Data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Currently into Corporate training and consultancy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corporates and public sector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Service Offerings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In person/On-line/Corporate/Academic Institutes</a:t>
            </a:r>
          </a:p>
          <a:p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Consultancy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Consultant to vendor of Atal Tinkering Lab/ECIL-ECIT,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Incarnus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Healthcare Service Provider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Java,Python,Web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technologies,Java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Script technologies (MEAN stack),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IOT,Test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Automation,Machine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Learning,Artificial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Intelligence,ERP,.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NET,Cloud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Computing,Devops,MLOps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ILinkDigital,Operative,Flatworld,IQVIA,Sony,Philips,L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T,NextGen,Incarnus,Aspire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system,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NewHorizonCollege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Engineering,NIE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Mysore,Acharya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College Of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Engineering,SIT-Tumakuru,BGS-IT,Sindhi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College,Malnad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Enginering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 College of Management, REVA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University,Nagarjuna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Engineering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College,Dayanand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Sagar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University,NIT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-Imphal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24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SHAP Deep drive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9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A60E1-A43C-0D84-0EEC-721E01E8D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2B042-4D46-390D-CA5B-22769D37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ntroduction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C97A2-F759-4B50-1722-D2336FF1C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SHAP</a:t>
            </a:r>
            <a:r>
              <a:rPr lang="en-US" dirty="0"/>
              <a:t> is a popular Explainable AI (XAI) technique used to understand </a:t>
            </a:r>
            <a:r>
              <a:rPr lang="en-US" b="1" dirty="0"/>
              <a:t>why a machine learning model made a particular prediction.</a:t>
            </a:r>
            <a:endParaRPr lang="en-US" dirty="0"/>
          </a:p>
          <a:p>
            <a:r>
              <a:rPr lang="en-US" dirty="0"/>
              <a:t>👉 It explains model decisions by showing how each input feature contributed to the output.</a:t>
            </a:r>
          </a:p>
          <a:p>
            <a:r>
              <a:rPr lang="en-US" b="1" dirty="0"/>
              <a:t>⚖️ Based on Game Theory</a:t>
            </a:r>
          </a:p>
          <a:p>
            <a:r>
              <a:rPr lang="en-US" dirty="0"/>
              <a:t>SHAP comes from </a:t>
            </a:r>
            <a:r>
              <a:rPr lang="en-US" b="1" dirty="0"/>
              <a:t>Shapley values</a:t>
            </a:r>
            <a:r>
              <a:rPr lang="en-US" dirty="0"/>
              <a:t> in cooperative game theory.</a:t>
            </a:r>
          </a:p>
          <a:p>
            <a:r>
              <a:rPr lang="en-US" dirty="0"/>
              <a:t>Idea:</a:t>
            </a:r>
          </a:p>
          <a:p>
            <a:r>
              <a:rPr lang="en-US" dirty="0"/>
              <a:t>🧩 Each feature = a “player”</a:t>
            </a:r>
            <a:br>
              <a:rPr lang="en-US" dirty="0"/>
            </a:br>
            <a:r>
              <a:rPr lang="en-US" dirty="0"/>
              <a:t>🏆 Prediction = total reward</a:t>
            </a:r>
            <a:br>
              <a:rPr lang="en-US" dirty="0"/>
            </a:br>
            <a:r>
              <a:rPr lang="en-US" dirty="0"/>
              <a:t>📊 SHAP distributes credit fairly among features</a:t>
            </a:r>
          </a:p>
          <a:p>
            <a:r>
              <a:rPr lang="en-US" b="1" dirty="0"/>
              <a:t>📈 What SHAP Explains</a:t>
            </a:r>
          </a:p>
          <a:p>
            <a:r>
              <a:rPr lang="en-US" dirty="0"/>
              <a:t>For a prediction, SHAP shows:</a:t>
            </a:r>
          </a:p>
          <a:p>
            <a:r>
              <a:rPr lang="en-US" dirty="0"/>
              <a:t>🔺 Features increasing the prediction</a:t>
            </a:r>
          </a:p>
          <a:p>
            <a:r>
              <a:rPr lang="en-US" dirty="0"/>
              <a:t>🔻 Features decreasing the prediction</a:t>
            </a:r>
          </a:p>
          <a:p>
            <a:r>
              <a:rPr lang="en-US" dirty="0"/>
              <a:t>⭐ Most important factors</a:t>
            </a:r>
          </a:p>
          <a:p>
            <a:r>
              <a:rPr lang="en-US" dirty="0"/>
              <a:t>🧠 Model behavior</a:t>
            </a:r>
          </a:p>
          <a:p>
            <a:endParaRPr lang="en-US" dirty="0"/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5F505-1380-C97B-9E68-6D2B83E53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B1155-40F4-66B6-C897-CC4B70DD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4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7FDB-4DF6-8A0D-844B-FB703D42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1E74B-E945-0461-82DE-51F6D8594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F0774-E6D7-9D75-A234-2FE10093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1320F-6C83-7CDB-20FD-76FDAD7E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547A3E-9E9E-0912-C4C7-E94A34A77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25" y="1812618"/>
            <a:ext cx="8821381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59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4257-40EE-89ED-D651-356DCD9A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DD9B6-B377-02C9-EF55-115D1350D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36E1F-C3A1-9AED-5D7E-799A495B6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07C07-6F57-A317-6461-B571223B6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AB694C-4608-2F04-8361-6979D73B9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409903" cy="424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68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61CB7-CF5E-5F71-47A8-F9380AAE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D3A5-9CDE-F277-6C27-9D9620B0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C9B8F-7A40-2AE5-2FA0-D3A802233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D2778-81DC-305C-78AB-73B58A4B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687E8-BFAB-FFB0-F3BF-411DD5B5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E88D6-B00D-604F-8F4B-8AB9139C6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409903" cy="424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49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3B6D-A80C-4EBB-D303-06A45BC50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Behind SHAP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F447E-5BF1-9EA1-654D-279B8F083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A42AC-B280-6BA4-C695-4EB210B40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8BDED-7FA4-5B89-97C3-123BBA2E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95B8-8502-2764-6C2E-8C0B4E715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25624"/>
            <a:ext cx="10011438" cy="428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D5F7C-486F-795C-2483-43450CF9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8F537-F4B9-9BA2-5517-12CD4A53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Behind SHAP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58115-4BA5-2C6A-21FF-1714402A8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Shap</a:t>
            </a:r>
            <a:r>
              <a:rPr lang="en-US" dirty="0"/>
              <a:t> </a:t>
            </a:r>
            <a:r>
              <a:rPr lang="en-US" dirty="0" err="1"/>
              <a:t>Maths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F136C-A656-281A-EE35-3490E431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1EF87-B845-20EE-E9AB-28AF4D1E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9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9013CD-4E41-2DF2-CD34-15EE4DF88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37" y="2391223"/>
            <a:ext cx="8878539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50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66CE-8C75-4328-2F7F-2832B51F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MATHS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76274-219C-CCA5-433E-8FCEC1131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A8A85-B7FA-AD32-8081-B7C2709C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37710-4B0F-F773-B5D3-93679171D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067F87-8F9D-83C5-9FCB-2A49D5B3D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25625"/>
            <a:ext cx="10135280" cy="407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08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A5398-92A1-DF73-6729-D824FF37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A496-A7C9-E83C-ACAD-3047BE77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SHAP Plots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CBFFBFB-C961-03DA-6095-11E6E0DF9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9" y="1847850"/>
            <a:ext cx="5565059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DF4AB-8E1B-6724-7E46-DF514D64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BCEB4-EED0-8F30-5EF9-76C48D6C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CCD2C8-9B2F-4FDA-E672-5267748D4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1786422"/>
            <a:ext cx="525780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854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BDFBC-6210-DC77-52FD-C5437770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B25A-5985-60C2-ED03-DEFC7A18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SHAP Plots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1C468-3EFA-CF77-4189-C1B41DC6F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2B819-C728-E6CE-F1D3-05B71114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12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BC0C5-87A5-9A7A-C3BB-859FCA4B2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E529-8221-82F3-CADB-2E777466F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35" y="1870075"/>
            <a:ext cx="10323200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66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8C0A1-39F5-BC46-5022-47F58086B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BD93-4901-92F9-26E3-E120A1F6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SHAP Plots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C3849-E684-DA40-CC4E-318C4E72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0B533-DB10-C05A-FDF2-1FFEBCB6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13</a:t>
            </a:fld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48D526C-5CF8-1517-4B2C-46D508AA2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3419" y="2192594"/>
            <a:ext cx="4917472" cy="3608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48AD8B-8CF5-28E0-415E-FFE8361C9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17" y="1825626"/>
            <a:ext cx="5535048" cy="425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27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1ED11-8F1C-A55F-DC1B-FEE65E72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A607-09A5-4238-5C83-8E295542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SHAP Plots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C7916-0F3C-1134-4CFF-8FCD9556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657E6-6338-808D-9F51-FD5B2EF9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14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2E914-7A5A-B616-728B-C10728775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CC9213-3B41-A8B1-5726-EC31F8353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6"/>
            <a:ext cx="104393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74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A022-C06C-6EFE-1CAA-9CE25642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8F436-E552-ED20-0FCD-A7A07FB8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SHAP Plots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1225D-4141-7ED8-72BB-4808B57D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D6846-B83D-29BB-993D-19463C63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15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FA4AC-2059-F698-D68B-C000E9EC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3AC72-69B0-DB4B-7409-88FD0417E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5319"/>
            <a:ext cx="6068272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E895FF-66BB-AEA4-8F84-CCC43C33C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634" y="1825625"/>
            <a:ext cx="4114800" cy="536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99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3FAB-6919-C676-0E46-C92215AC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57D1-1365-7266-5722-91EDEEAE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SHAP Plots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CD0D8-995E-E446-F694-891BABA5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76D9E-0F8F-8791-35DD-72D8D7AA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16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92FE4-C354-47FE-3F8F-FA37F9185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07E307-3B8D-A87A-CD26-FAD156B4A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8731"/>
            <a:ext cx="5620789" cy="4428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7708C4-B10C-7686-BF23-78FF88B21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904" y="1870075"/>
            <a:ext cx="5620789" cy="378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38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7937-F1AD-1B84-C71E-E2915E63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D183-2D5A-6727-F9D6-129E3CE0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86FED-552B-7672-D132-C7F560444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Original SHAP paper: </a:t>
            </a:r>
            <a:r>
              <a:rPr lang="en-US" dirty="0">
                <a:hlinkClick r:id="rId3"/>
              </a:rPr>
              <a:t>https://arxiv.org/abs/1602.04938</a:t>
            </a:r>
            <a:r>
              <a:rPr lang="en-US" dirty="0"/>
              <a:t> SHAP GitHub repo: </a:t>
            </a:r>
            <a:r>
              <a:rPr lang="en-US" dirty="0">
                <a:hlinkClick r:id="rId4"/>
              </a:rPr>
              <a:t>https://github.com/shap/shap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Website: </a:t>
            </a:r>
            <a:r>
              <a:rPr lang="en-US" dirty="0">
                <a:hlinkClick r:id="rId5"/>
              </a:rPr>
              <a:t>https://shap.readthedocs.io/en/latest/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https://youtu.be/IIgTulcEUFw?si=MT9e4hZye52Ctpkb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40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2356"/>
            <a:ext cx="9144000" cy="935575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 Prasad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42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13783</TotalTime>
  <Words>517</Words>
  <Application>Microsoft Office PowerPoint</Application>
  <PresentationFormat>Widescreen</PresentationFormat>
  <Paragraphs>97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Office Theme</vt:lpstr>
      <vt:lpstr>SHAP Deep drive  </vt:lpstr>
      <vt:lpstr>Introduction</vt:lpstr>
      <vt:lpstr>Topics</vt:lpstr>
      <vt:lpstr>Introduction</vt:lpstr>
      <vt:lpstr>SHAP Introduction</vt:lpstr>
      <vt:lpstr>SHAP</vt:lpstr>
      <vt:lpstr>SHAP</vt:lpstr>
      <vt:lpstr>Intuition Behind SHAP</vt:lpstr>
      <vt:lpstr>Intuition Behind SHAP</vt:lpstr>
      <vt:lpstr>SHAP MATHS</vt:lpstr>
      <vt:lpstr>Types of SHAP Plots</vt:lpstr>
      <vt:lpstr>Types of SHAP Plots</vt:lpstr>
      <vt:lpstr>Types of SHAP Plots</vt:lpstr>
      <vt:lpstr>Types of SHAP Plots</vt:lpstr>
      <vt:lpstr>Types of SHAP Plots</vt:lpstr>
      <vt:lpstr>Types of SHAP Plots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Basics</dc:title>
  <dc:creator>raghu prasad</dc:creator>
  <cp:lastModifiedBy>raghu prasad konandur</cp:lastModifiedBy>
  <cp:revision>835</cp:revision>
  <dcterms:created xsi:type="dcterms:W3CDTF">2017-06-25T15:07:02Z</dcterms:created>
  <dcterms:modified xsi:type="dcterms:W3CDTF">2026-02-19T08:45:53Z</dcterms:modified>
</cp:coreProperties>
</file>