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81" r:id="rId3"/>
    <p:sldId id="257" r:id="rId4"/>
    <p:sldId id="423" r:id="rId5"/>
    <p:sldId id="436" r:id="rId6"/>
    <p:sldId id="437" r:id="rId7"/>
    <p:sldId id="438" r:id="rId8"/>
    <p:sldId id="439" r:id="rId9"/>
    <p:sldId id="440" r:id="rId10"/>
    <p:sldId id="441" r:id="rId11"/>
    <p:sldId id="442" r:id="rId12"/>
    <p:sldId id="443" r:id="rId13"/>
    <p:sldId id="444" r:id="rId14"/>
    <p:sldId id="435" r:id="rId15"/>
    <p:sldId id="34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5B4A6-F6ED-41A2-91E7-92EA26A78E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E8005F-CED1-4621-9110-C690C6CDC9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A3DF1-419F-4396-AE23-2FADD3683DA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7E25C-2D8D-41AA-8748-E6D60FE01D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82668-E5B5-46EE-9C93-F2CE7B1769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15D8C8-2A11-4FB2-BD5D-E4BDAB38F5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578213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skill up-skill re-skill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6DFB3-D709-4817-8757-3B1955B6C311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57952-1A80-46FA-8548-9774038396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415091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0774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3E5B-1AEC-2A6A-173B-605060DAE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D8D08-E457-7AFA-1253-0042AEEBA1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3EC82-81D4-4CBB-EF65-FAE6D42752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F2EA474-56DE-9E94-DD3D-431DFE47355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EBFA76-513E-316B-3281-AF972331C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500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17E25-AB66-2F66-0097-8F236B80D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E3A1F-6EA6-0BBE-A37C-8F476F846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CE815D-6667-E569-7089-2A26D3719B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A144F981-8AB8-B169-FC5F-E7220E42EBE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38940-9A5C-5DD7-4472-02DEF93FFB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517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8D1A-6657-1CC9-56A6-DDB330E31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814735-CED1-207D-AA12-F547DF5AA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EA430-9016-D866-EBAA-CCD35E2D5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43725A40-9BAD-F88B-E833-DFB8B5FFABB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B24AF-DD90-2060-FADF-31BFC48B2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86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87EE-8415-8E0C-D75B-6EDEDBAA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8DCEA5-D619-DCFC-5B3C-E0573F55E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92C8E-00A4-E150-0DB8-794C073BC2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E18B21A1-5F35-B8D6-02FF-46222003BD0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100CD-CB7C-E1D4-99C6-3B7D6F019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326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EB66-3B1F-5DAE-3C53-DD25DF9E1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26069-238E-FE01-849E-BCC3785D6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CE8C56-7E4D-009C-D95F-B425DC5CF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F00F6A9-92D6-452A-5234-BF19B9F894D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E1F50F-D833-C02B-A4F8-8A64F0C6B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80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822E7-CF7D-85F0-C9EF-01DDAD86C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BDAE1-EEC3-6F8E-80AA-D1B6E83E8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EDD404-D976-F952-A137-4E722449C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B61EB89-D7A1-2BFB-6516-F71A0048010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4E1993-3835-B591-98A2-8B8C9081BE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902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5256-ABAC-1A4F-F8D0-BD036458D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DB9F30-0513-5BBC-09C7-1A15D8C7A2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877AA6-F150-AE37-1C76-32B469218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2B60D9DB-AFFE-DB67-4BD2-CE5589861CB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6A08F-382B-580E-29D5-BD893DB0C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48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E08FF-AD6C-2858-F44F-DDA4B0A7C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3A5441-5210-95D2-526B-0D4F6ACD2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EB642A-A383-039B-87D4-CACDDC4258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0E27D10C-1807-15F2-4CEF-D447A21FF49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0A1AE-A204-FBF8-B394-DDF09B5F4D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6854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81D39-A35D-E1BF-3E2C-45FE09569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BFA3B-C5EC-C4C4-037C-F786FD812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D74E0-384E-94B8-B874-AB762C9A7C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Transparency – making decision in self driving </a:t>
            </a:r>
            <a:r>
              <a:rPr lang="en-US" dirty="0" err="1"/>
              <a:t>car,finance</a:t>
            </a:r>
            <a:r>
              <a:rPr lang="en-US" dirty="0"/>
              <a:t>.. Healthy or unhealth.. Which factors making as </a:t>
            </a:r>
            <a:r>
              <a:rPr lang="en-US" dirty="0" err="1"/>
              <a:t>unhealty</a:t>
            </a:r>
            <a:r>
              <a:rPr lang="en-US" dirty="0"/>
              <a:t>.. Conducting a </a:t>
            </a:r>
            <a:r>
              <a:rPr lang="en-US" dirty="0" err="1"/>
              <a:t>surgery..Why</a:t>
            </a:r>
            <a:r>
              <a:rPr lang="en-US" dirty="0"/>
              <a:t> surgery is prescribed.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4CB11C3-16FA-0B72-D0AD-2B28985216A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B55A2-6176-3AD8-F07B-E9B74A465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656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7BC2B-6A05-6DAB-6C3A-C622D74F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6A37A-0260-8651-0642-5F6FFC86E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B0843-53AF-4FC4-ADB0-C4F97A456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Linear Regression is highly interpretable</a:t>
            </a:r>
            <a:endParaRPr lang="en-IN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366B662-E848-8BC3-E2AE-63B2F303B7D6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skill up-skill re-skill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72F70D-7960-1D1A-C6E9-FD9652512D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57952-1A80-46FA-8548-9774038396A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064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C41B-E9E9-489D-B260-27118C51A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8C4B8-CEE0-48BD-992B-814D7C429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E0641-E2DC-4375-B272-231AFBA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BD9D9-0201-491D-850A-4E48B8CC6FB5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D9137-1D30-43E0-932D-1EB873CE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AB4F9-BFE1-4F47-8160-278C84DA0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F8CD0-CC09-4685-A6E3-C9BBA661D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E0423-F94B-4A20-BA08-6E113BA16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F264F-4D1D-42F9-B1ED-BEA4739C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5BB6-7F57-4C30-AECB-DA0D27197DA6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B44A2-22EA-44B0-B219-7CB71AB84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8506A-7EAE-470A-B749-0B43FF1F2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9085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D3BCC-6658-4BBB-B1FE-8A51C995B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09F01-5596-4590-B4B8-A77BBB859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F1DB20-F694-46E7-BA2E-E379D0D0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C85B2-39A4-4814-A92A-2973CDC9102C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4FA37-DFF6-49FE-A511-D986E4430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E922A-582D-412F-8D08-1961EBDE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632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7A0B4-7DDD-456B-868E-04A488A1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254B-1F41-4F92-8B68-9C674549E6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EA022-5DE4-44D3-9F22-F814D27A1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BB7E97-0CE2-40EF-9035-BABECA59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293A2-8117-48A4-9605-23EE94DF99C3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F199-F1D8-4F41-9729-74072316A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38860-A321-47E1-A901-9A31ACA8B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6687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48B7-EEB8-49FB-A0B5-6537290A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DACF7-9B14-4029-B2E7-54EE46CF7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BA818-DC40-495F-BA3A-ECE379EED7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E8DDCE-3A75-4288-862A-FEC0EAD1A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4CC0A-DC5F-415B-8B31-0ABF5A8363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00FD2E-C50D-41E4-B63A-E027608F6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C8FC-84AC-4C10-ACC0-BD7AF63F7665}" type="datetime1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C346B-A211-4AB4-8CD0-78AECC55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3B9F66-7773-41D1-BAC7-1779C683F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10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723AA-C80A-48BC-AEC6-7DEB48525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F2A346-0D1B-4256-9132-CB879CE9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0B640-F7B0-4E9F-B479-2364AFCFD561}" type="datetime1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8BFEC-7F4E-42A1-8F8B-C963212F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7053D-177C-48FE-94BB-7D2BD7215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161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CB7B5B-8618-4598-A42F-E77A5E7A5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955B1-F658-4E21-B29B-5C46404C65AF}" type="datetime1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C4A9AA-34C8-47A8-8FB6-82529E447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BD80E-88A3-4F3A-9F53-55EC3AC33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71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D3AA-A5E3-4783-9DBA-B91ABD3F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D636D-3601-4BD1-ACEB-BBC34281A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60A2C8-4279-438E-87E0-A01F762623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60658-7026-4AFD-BCDA-22137F6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66127A-0CB8-41EB-AC70-2B05AA20CEB4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0149A-2D3F-414A-8383-27F6EC7B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A4C9F-0C49-4ED0-AEAE-CBB1E79DC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323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40B7-5D4B-4A58-B13A-74F6D61D6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FA2D4-EE9C-48E1-87D3-42D611AA03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3D02-5D72-4538-BA17-9869B87C7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D4831-4453-4D03-A9AA-7C6196C8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0E169A-C6D0-47B8-83D4-F4CEB7EC43EC}" type="datetime1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6C28A-74DE-4994-8DF8-7BF27E18A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5F87BE-663F-48C0-BE8A-EAA4B768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628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BCFDE-0066-424F-8AD8-B8B63F4B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767B97-FA2A-4591-8DD4-3BF596375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81EE0-3A36-4DA0-8C70-B2F55A23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8E471-E374-414F-ACAE-271604EC180C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91D9F-1AA2-4DC0-ABDD-E386B07AD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10BF8-EA9D-4436-8B54-135D36BD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47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2BC0A2-01C6-47DB-93BE-DB08598B63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BC7C24-10B7-4275-A1D4-1C14E61890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6E22-37F2-4165-A9BB-2109D041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09059-F8BB-4ED7-ABCA-C2BF3D4995E6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6818C-8238-4212-9546-A9BA9398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C79E6-8F9D-4249-B9F7-352C3C52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09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1CC49-6A6E-4458-B7D5-F57D53CAD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71B4D-5EE4-4B37-8114-5D368C160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161EA-61A4-45FE-B63D-DC877E80F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274BC-1E24-44A8-9040-DB21F7AFD224}" type="datetime1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497DB-E57A-4B4A-A292-2720D15BCA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www.kaushalya.tech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C2572-16A3-43B1-A9DF-517466262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0B680-4920-456B-94E7-EB6DEF2EAF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74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kaushalya.tech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direct?event=video_description&amp;redir_token=QUFFLUhqbGJyMHRKLU9CQjM1eDRuZThCZXdRc2k3eW56QXxBQ3Jtc0ttdVB2ZzFqNUpacWFUcW9QQldzVnhqVEVYbGcxWF85RFcxeGltM3JpQjBJV21wcC1vMzNnXzJNa1BIb2hvRGhIVGVXUDNOc05RR3Z1RFpITGR5UXJOYnU2ak85U2FzNXgzUFlIYWUtb3lzUmFHS3ZNTQ&amp;q=https%3A%2F%2Flink.springer.com%2Farticle%2F10.1007%2Fs12559-023-10179-8&amp;v=vkrc3OUb9l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redirect?event=video_description&amp;redir_token=QUFFLUhqa1oyUXBQZVlMYjBZbFE5N3Vacm13VDRMNnR1Z3xBQ3Jtc0trNGtTTGRFZHhEMkxueTFHc3dxRmFtTlhBWG9hc1hqeHUwLXk0YktZOHNXNERjWXJiSTdfTG5xODJiaVQyd1hzNGh6ZmRXckFBZjdXN0dSNDU3bHdqQlduZi1ucEJuWEFRQjVYQmt1RkxMWjFSd05sMA&amp;q=https%3A%2F%2Farxiv.org%2Fpdf%2F1602.04938&amp;v=vkrc3OUb9lI" TargetMode="External"/><Relationship Id="rId5" Type="http://schemas.openxmlformats.org/officeDocument/2006/relationships/hyperlink" Target="https://www.youtube.com/redirect?event=video_description&amp;redir_token=QUFFLUhqa0pBeG1URHpFUmZvU1BYTmxKWU0xU2ZpNnFwZ3xBQ3Jtc0tubTM2WjVmakFkWFdTMVRhb0taSVZ6UW1HUXdWdjZ3WUhuZTVMMUxSaTg0Tk1sZWR3bDUxSFF2a3F0X203T0dqNzNVYWVjeWVuMnFVWVFzeXJPSWVlNHRqaVd3ZEtwMk5oS01KMXI1eEQtRFNaM1Nvcw&amp;q=https%3A%2F%2Flink.springer.com%2Farticle%2F10.1007%2Fs10618-023-00933-9&amp;v=vkrc3OUb9lI" TargetMode="External"/><Relationship Id="rId4" Type="http://schemas.openxmlformats.org/officeDocument/2006/relationships/hyperlink" Target="https://www.youtube.com/redirect?event=video_description&amp;redir_token=QUFFLUhqa2c1dy1KUV9aUlFWeFp4NTNUQmh5dUJkcHNvd3xBQ3Jtc0tsNlRCc2x5SHI3MjBWd2VBVWtwa1hvNEREanY1VllvNFNEbnFlVmxNcTNBMWtYSWszcTJlOWxXdWN5TUk5Z1Y4MXYwYjRQMk5QYzY0OTdTTm5qcnV0RVpFZkpib0VoWV9iUFh2SUl4TE1Tck5NVV9sYw&amp;q=https%3A%2F%2Fwires.onlinelibrary.wiley.com%2Fdoi%2Fepdf%2F10.1002%2Fwidm.1424&amp;v=vkrc3OUb9lI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81548"/>
            <a:ext cx="9144000" cy="2006384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Aptos" panose="020B0004020202020204" pitchFamily="34" charset="0"/>
              </a:rPr>
              <a:t>XAI Methods Categorization</a:t>
            </a:r>
            <a:br>
              <a:rPr lang="en-US" sz="2400" b="1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br>
              <a:rPr lang="en-US" sz="18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</a:br>
            <a:endParaRPr lang="en-IN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 Prasad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www.kaushalya.tech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CEO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08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1D3BD-21ED-4200-A35D-5864E79F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AE32C-01B9-4D24-8F7D-680E6749A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Raghu Prasad – BE, MS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Total of 30 years of experience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7 years as a lecturer in an Engineering College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23 Years into IT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companies like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CISCO,CSC,ICICI,First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Apex – NTT Data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Currently into Corporate training and consultancy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Worked with corporates and public sector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Service Offerings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In person/On-line/Corporate/Academic Institutes</a:t>
            </a:r>
          </a:p>
          <a:p>
            <a:r>
              <a:rPr lang="en-IN" sz="2900" b="1" dirty="0">
                <a:latin typeface="Arial" panose="020B0604020202020204" pitchFamily="34" charset="0"/>
                <a:cs typeface="Arial" panose="020B0604020202020204" pitchFamily="34" charset="0"/>
              </a:rPr>
              <a:t>Consultancy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– Consultant to vendor of Atal Tinkering Lab/ECIL-ECIT,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Incarnus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Healthcare Service Provider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Technologies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Java,Python,Web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technologies,Java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Script technologies (MEAN stack),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IOT,Test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Automation,Machine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Learning,Artificial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Intelligence,ERP,.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NET,Cloud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Computing,Devops,MLOps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ILinkDigital,Operative,Flatworld,IQVIA,Sony,Philips,L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T,NextGen,Incarnus,Aspire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system,</a:t>
            </a:r>
          </a:p>
          <a:p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NewHorizonCollege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Engineering,NIE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Mysore,Acharya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College Of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Engineering,SIT-Tumakuru,BGS-IT,Sindhi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College,Malnad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Enginering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 College of Management, REVA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University,Nagarjuna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Engineering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College,Dayanand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Sagar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University,NIT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-Imphal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244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76393-01BB-428F-8642-D325E9ED1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C895-1F18-40A1-A762-D33689BEF2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XAI Methods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E687A-3841-43E9-A660-E12990A18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EE1CA-D53F-4736-8F8C-F0F7031EF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993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4A64-EAFE-45BC-9CCE-A0D887F4A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Methods Categorization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78AFD-2F09-4916-BA37-A771E8E18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A9AE5-4284-73AA-ED3F-47E8288E7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32" y="1396181"/>
            <a:ext cx="10515600" cy="478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0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18BDE-7354-D658-ECF4-DF36ACFEC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3065F-1EA9-FD72-9A89-97D0B7D9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Methods Categorization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57E9-794C-F629-F691-789E4FA5D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72C4E9-4B91-A87E-BD97-C5CBDC8AE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701" y="1632904"/>
            <a:ext cx="8576428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B88D5-EE68-8206-8AED-5CEB12C48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8CC1F-6707-0219-DF5C-65F3E7BC3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Methods Categorization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E7C58-FE2D-1999-97B0-DB8FD521F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16DF3-72C9-43A6-BA2F-B04307CDE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00" y="1415844"/>
            <a:ext cx="11520799" cy="5077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58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9772A-EB88-8117-E745-1B67074C4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45635-5BF9-AE2D-6E80-196B38AD1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Methods Categorization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B5B35-6C0F-1A19-CC7C-A32753AB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A3CA2-31DA-A08C-061F-4F1142490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16" y="1366684"/>
            <a:ext cx="8328006" cy="524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20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C70E6-872D-078E-7BB9-BD9EAC0F2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B42D5-A9F4-F5F6-619C-AAB71412A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Methods Categorization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59329-E3FB-4559-529A-DE3AFA83E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DE27DA-8183-5ACE-FA4D-A0C3810ED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2" y="1504335"/>
            <a:ext cx="11680723" cy="516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13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8C289-F09B-86C7-AE71-12D611AC6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9EE12-DA27-443A-CE9A-1956A19E9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Methods Categorization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A6ACC-F04B-8C78-9A5B-103FDE1CB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6C16C0-E222-77AB-A117-1D72BE55F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12" y="1504335"/>
            <a:ext cx="11680723" cy="516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81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8252D-24CC-DAA2-A8D3-94A120C8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69BF2-BEFF-5E44-BA5D-8FFB5AF2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XAI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8ED48-61E7-5F82-D451-ECEFD1136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389F31-DEA1-873B-73CC-E41B8711F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425677"/>
            <a:ext cx="10331245" cy="478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53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FDA69-34E6-FC25-E039-29492417B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05A14-CF49-80EB-D5EE-80C7A6F5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LIME(Local Interpretable Model Agnostic Explanations)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F2D86-8915-A6C4-BEC4-511A0885B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E81D86-F05E-06B4-2911-381B79920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45" y="1445342"/>
            <a:ext cx="10242756" cy="502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4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6506-6672-E863-1D2A-C2F7DBA0B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96D6-B138-4703-65EA-E4C579CBA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SHAP(Shapley Additive </a:t>
            </a:r>
            <a:r>
              <a:rPr lang="en-US" sz="3600" dirty="0" err="1"/>
              <a:t>exPlanations</a:t>
            </a:r>
            <a:r>
              <a:rPr lang="en-US" sz="3600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7622-9DF9-E1A7-1066-E9DA7FE5B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666067-F93C-D539-4F3F-6DE8D5F6D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045" y="1406012"/>
            <a:ext cx="9196299" cy="497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12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0B9A9-90F1-9756-DCE6-72FEF7027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5CF52-F687-D0D9-C699-31B45D18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Partial Dependence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E62E2-0823-05B2-1348-8FCD969C5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2F2CB-FF4D-0F65-824B-F6CD9B871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289" y="1690688"/>
            <a:ext cx="78954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421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C7937-F1AD-1B84-C71E-E2915E63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D183-2D5A-6727-F9D6-129E3CE0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86FED-552B-7672-D132-C7F560444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Referred papers: Interpreting Black‑Box Models: A Review on Explainable Artificial Intelligence: </a:t>
            </a:r>
            <a:r>
              <a:rPr lang="en-US" dirty="0">
                <a:hlinkClick r:id="rId3"/>
              </a:rPr>
              <a:t>https://link.springer.com/article/10....</a:t>
            </a:r>
            <a:r>
              <a:rPr lang="en-US" dirty="0"/>
              <a:t> Explainable artificial intelligence: an analytical review: </a:t>
            </a:r>
            <a:r>
              <a:rPr lang="en-US" dirty="0">
                <a:hlinkClick r:id="rId4"/>
              </a:rPr>
              <a:t>https://wires.onlinelibrary.wiley.com...</a:t>
            </a:r>
            <a:r>
              <a:rPr lang="en-US" dirty="0"/>
              <a:t> Benchmarking and survey of explanation methods for black box models: </a:t>
            </a:r>
            <a:r>
              <a:rPr lang="en-US" dirty="0">
                <a:hlinkClick r:id="rId5"/>
              </a:rPr>
              <a:t>https://link.springer.com/article/10....</a:t>
            </a:r>
            <a:r>
              <a:rPr lang="en-US" dirty="0"/>
              <a:t> "Why Should I Trust You?": Explaining the Predictions of Any Classifier </a:t>
            </a:r>
            <a:r>
              <a:rPr lang="en-US" dirty="0">
                <a:hlinkClick r:id="rId6"/>
              </a:rPr>
              <a:t>https://arxiv.org/pdf/1602.04938</a:t>
            </a:r>
            <a:r>
              <a:rPr lang="en-US" dirty="0"/>
              <a:t> </a:t>
            </a:r>
            <a:br>
              <a:rPr lang="en-US" dirty="0"/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5403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FA290-8B3A-4103-A00E-06244A24C2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2356"/>
            <a:ext cx="9144000" cy="935575"/>
          </a:xfrm>
        </p:spPr>
        <p:txBody>
          <a:bodyPr>
            <a:normAutofit/>
          </a:bodyPr>
          <a:lstStyle/>
          <a:p>
            <a:r>
              <a:rPr lang="en-IN" sz="480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B74BFB-7A18-4DF0-8E46-E05235A52D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54313"/>
          </a:xfrm>
        </p:spPr>
        <p:txBody>
          <a:bodyPr>
            <a:no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Raghu Prasad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9845547471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www.kaushalya.tech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C57037-1BA5-4CBD-8260-3759DECD7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www.</a:t>
            </a: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kaushalya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.tech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DA70F-03AB-406E-88DC-93CC0743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0B680-4920-456B-94E7-EB6DEF2EAF04}" type="slidenum">
              <a:rPr lang="en-I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424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13676</TotalTime>
  <Words>709</Words>
  <Application>Microsoft Office PowerPoint</Application>
  <PresentationFormat>Widescreen</PresentationFormat>
  <Paragraphs>78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Office Theme</vt:lpstr>
      <vt:lpstr>XAI Methods Categorization  </vt:lpstr>
      <vt:lpstr>Introduction</vt:lpstr>
      <vt:lpstr>Topics</vt:lpstr>
      <vt:lpstr>XAI Methods Categorization</vt:lpstr>
      <vt:lpstr>XAI Methods Categorization</vt:lpstr>
      <vt:lpstr>XAI Methods Categorization</vt:lpstr>
      <vt:lpstr>XAI Methods Categorization</vt:lpstr>
      <vt:lpstr>XAI Methods Categorization</vt:lpstr>
      <vt:lpstr>XAI Methods Categorization</vt:lpstr>
      <vt:lpstr>XAI Techniques</vt:lpstr>
      <vt:lpstr>LIME(Local Interpretable Model Agnostic Explanations)</vt:lpstr>
      <vt:lpstr>SHAP(Shapley Additive exPlanations)</vt:lpstr>
      <vt:lpstr>Partial Dependence Plots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Basics</dc:title>
  <dc:creator>raghu prasad</dc:creator>
  <cp:lastModifiedBy>raghu prasad konandur</cp:lastModifiedBy>
  <cp:revision>805</cp:revision>
  <dcterms:created xsi:type="dcterms:W3CDTF">2017-06-25T15:07:02Z</dcterms:created>
  <dcterms:modified xsi:type="dcterms:W3CDTF">2026-02-23T05:06:11Z</dcterms:modified>
</cp:coreProperties>
</file>