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81" r:id="rId3"/>
    <p:sldId id="257" r:id="rId4"/>
    <p:sldId id="423" r:id="rId5"/>
    <p:sldId id="436" r:id="rId6"/>
    <p:sldId id="437" r:id="rId7"/>
    <p:sldId id="438" r:id="rId8"/>
    <p:sldId id="439" r:id="rId9"/>
    <p:sldId id="435" r:id="rId10"/>
    <p:sldId id="34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55B4A6-F6ED-41A2-91E7-92EA26A78E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skill up-skill re-skill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8005F-CED1-4621-9110-C690C6CDC9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A3DF1-419F-4396-AE23-2FADD3683DAD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7E25C-2D8D-41AA-8748-E6D60FE01D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82668-E5B5-46EE-9C93-F2CE7B1769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5D8C8-2A11-4FB2-BD5D-E4BDAB38F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57821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skill up-skill re-skill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6DFB3-D709-4817-8757-3B1955B6C31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57952-1A80-46FA-8548-977403839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41509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774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1DCA-D00C-F787-E389-472D9DBC9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C07DE7-D82B-0ECE-DB03-44AA67EE4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E7B59-563B-9393-BF38-2BB446E7C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EF21912-A637-C8AA-7E43-F499E0DB859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5E9856-1A79-2FB6-9E08-A97F10280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540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69792-E3CB-0D31-AB47-254EF1125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52EE5-3DF4-0A86-4582-44FE413DF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045BA-3BBB-AB6E-D2C0-FF0743496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6E9342E-7E4F-75CE-5605-8957ABB4144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149DB-DD5E-E2C9-C0AF-B92A715A8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98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05DEA-D719-30B1-6B4D-6EAC47AEC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8C0C5-24F2-C06A-0777-4B095A125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A3DA3-573B-E5B6-9685-3EAC70635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9E2129C-F4BB-430E-E2A2-220D5641169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1DE6DA-4BEE-38E7-345F-4622136DC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330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84A31-F764-A757-CCFD-651910196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9EC73-89BA-5031-00E8-5C6E23795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773DF-5B29-ABA9-962E-633607C63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631E348-F7EE-200A-9437-F0238C5D073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FD53E-9B93-1DE1-8A2C-466D59A0E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092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7BC2B-6A05-6DAB-6C3A-C622D74F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6A37A-0260-8651-0642-5F6FFC86E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B0843-53AF-4FC4-ADB0-C4F97A456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Regression is highly interpretable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366B662-E848-8BC3-E2AE-63B2F303B7D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72F70D-7960-1D1A-C6E9-FD9652512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640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C41B-E9E9-489D-B260-27118C51A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8C4B8-CEE0-48BD-992B-814D7C429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E0641-E2DC-4375-B272-231AFBA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9D9-0201-491D-850A-4E48B8CC6FB5}" type="datetime1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D9137-1D30-43E0-932D-1EB873CE0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AB4F9-BFE1-4F47-8160-278C84DA0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F8CD0-CC09-4685-A6E3-C9BBA661D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0423-F94B-4A20-BA08-6E113BA16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F264F-4D1D-42F9-B1ED-BEA4739C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5BB6-7F57-4C30-AECB-DA0D27197DA6}" type="datetime1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44A2-22EA-44B0-B219-7CB71AB8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8506A-7EAE-470A-B749-0B43FF1F2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08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BCC-6658-4BBB-B1FE-8A51C995B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09F01-5596-4590-B4B8-A77BBB859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1DB20-F694-46E7-BA2E-E379D0D00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C85B2-39A4-4814-A92A-2973CDC9102C}" type="datetime1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4FA37-DFF6-49FE-A511-D986E443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E922A-582D-412F-8D08-1961EBDE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32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7A0B4-7DDD-456B-868E-04A488A1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7254B-1F41-4F92-8B68-9C674549E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EA022-5DE4-44D3-9F22-F814D27A1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B7E97-0CE2-40EF-9035-BABECA59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93A2-8117-48A4-9605-23EE94DF99C3}" type="datetime1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4F199-F1D8-4F41-9729-74072316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38860-A321-47E1-A901-9A31ACA8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8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A48B7-EEB8-49FB-A0B5-6537290AA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DACF7-9B14-4029-B2E7-54EE46CF7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BA818-DC40-495F-BA3A-ECE379EED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E8DDCE-3A75-4288-862A-FEC0EAD1AE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4CC0A-DC5F-415B-8B31-0ABF5A836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0FD2E-C50D-41E4-B63A-E027608F6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C8FC-84AC-4C10-ACC0-BD7AF63F7665}" type="datetime1">
              <a:rPr lang="en-IN" smtClean="0"/>
              <a:t>21-09-2025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C346B-A211-4AB4-8CD0-78AECC55B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B9F66-7773-41D1-BAC7-1779C683F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10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23AA-C80A-48BC-AEC6-7DEB4852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F2A346-0D1B-4256-9132-CB879CE9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B640-F7B0-4E9F-B479-2364AFCFD561}" type="datetime1">
              <a:rPr lang="en-IN" smtClean="0"/>
              <a:t>21-09-2025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8BFEC-7F4E-42A1-8F8B-C963212F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7053D-177C-48FE-94BB-7D2BD7215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161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B7B5B-8618-4598-A42F-E77A5E7A5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55B1-F658-4E21-B29B-5C46404C65AF}" type="datetime1">
              <a:rPr lang="en-IN" smtClean="0"/>
              <a:t>21-09-2025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C4A9AA-34C8-47A8-8FB6-82529E44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BD80E-88A3-4F3A-9F53-55EC3AC33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71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D3AA-A5E3-4783-9DBA-B91ABD3F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D636D-3601-4BD1-ACEB-BBC34281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0A2C8-4279-438E-87E0-A01F76262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60658-7026-4AFD-BCDA-22137F6C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127A-0CB8-41EB-AC70-2B05AA20CEB4}" type="datetime1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0149A-2D3F-414A-8383-27F6EC7B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4C9F-0C49-4ED0-AEAE-CBB1E79D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32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40B7-5D4B-4A58-B13A-74F6D61D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FA2D4-EE9C-48E1-87D3-42D611AA0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C3D02-5D72-4538-BA17-9869B87C7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D4831-4453-4D03-A9AA-7C6196C8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169A-C6D0-47B8-83D4-F4CEB7EC43EC}" type="datetime1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6C28A-74DE-4994-8DF8-7BF27E18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F87BE-663F-48C0-BE8A-EAA4B768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62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CFDE-0066-424F-8AD8-B8B63F4B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67B97-FA2A-4591-8DD4-3BF596375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81EE0-3A36-4DA0-8C70-B2F55A23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E471-E374-414F-ACAE-271604EC180C}" type="datetime1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91D9F-1AA2-4DC0-ABDD-E386B07A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10BF8-EA9D-4436-8B54-135D36BD0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47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BC0A2-01C6-47DB-93BE-DB08598B6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C7C24-10B7-4275-A1D4-1C14E6189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B6E22-37F2-4165-A9BB-2109D041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09059-F8BB-4ED7-ABCA-C2BF3D4995E6}" type="datetime1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6818C-8238-4212-9546-A9BA9398E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C79E6-8F9D-4249-B9F7-352C3C52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094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1CC49-6A6E-4458-B7D5-F57D53CA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71B4D-5EE4-4B37-8114-5D368C160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161EA-61A4-45FE-B63D-DC877E80F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274BC-1E24-44A8-9040-DB21F7AFD224}" type="datetime1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497DB-E57A-4B4A-A292-2720D15BCA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C2572-16A3-43B1-A9DF-517466262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74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aushalya.tech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direct?event=video_description&amp;redir_token=QUFFLUhqbGJyMHRKLU9CQjM1eDRuZThCZXdRc2k3eW56QXxBQ3Jtc0ttdVB2ZzFqNUpacWFUcW9QQldzVnhqVEVYbGcxWF85RFcxeGltM3JpQjBJV21wcC1vMzNnXzJNa1BIb2hvRGhIVGVXUDNOc05RR3Z1RFpITGR5UXJOYnU2ak85U2FzNXgzUFlIYWUtb3lzUmFHS3ZNTQ&amp;q=https%3A%2F%2Flink.springer.com%2Farticle%2F10.1007%2Fs12559-023-10179-8&amp;v=vkrc3OUb9lI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redirect?event=video_description&amp;redir_token=QUFFLUhqa1oyUXBQZVlMYjBZbFE5N3Vacm13VDRMNnR1Z3xBQ3Jtc0trNGtTTGRFZHhEMkxueTFHc3dxRmFtTlhBWG9hc1hqeHUwLXk0YktZOHNXNERjWXJiSTdfTG5xODJiaVQyd1hzNGh6ZmRXckFBZjdXN0dSNDU3bHdqQlduZi1ucEJuWEFRQjVYQmt1RkxMWjFSd05sMA&amp;q=https%3A%2F%2Farxiv.org%2Fpdf%2F1602.04938&amp;v=vkrc3OUb9lI" TargetMode="External"/><Relationship Id="rId5" Type="http://schemas.openxmlformats.org/officeDocument/2006/relationships/hyperlink" Target="https://www.youtube.com/redirect?event=video_description&amp;redir_token=QUFFLUhqa0pBeG1URHpFUmZvU1BYTmxKWU0xU2ZpNnFwZ3xBQ3Jtc0tubTM2WjVmakFkWFdTMVRhb0taSVZ6UW1HUXdWdjZ3WUhuZTVMMUxSaTg0Tk1sZWR3bDUxSFF2a3F0X203T0dqNzNVYWVjeWVuMnFVWVFzeXJPSWVlNHRqaVd3ZEtwMk5oS01KMXI1eEQtRFNaM1Nvcw&amp;q=https%3A%2F%2Flink.springer.com%2Farticle%2F10.1007%2Fs10618-023-00933-9&amp;v=vkrc3OUb9lI" TargetMode="External"/><Relationship Id="rId4" Type="http://schemas.openxmlformats.org/officeDocument/2006/relationships/hyperlink" Target="https://www.youtube.com/redirect?event=video_description&amp;redir_token=QUFFLUhqa2c1dy1KUV9aUlFWeFp4NTNUQmh5dUJkcHNvd3xBQ3Jtc0tsNlRCc2x5SHI3MjBWd2VBVWtwa1hvNEREanY1VllvNFNEbnFlVmxNcTNBMWtYSWszcTJlOWxXdWN5TUk5Z1Y4MXYwYjRQMk5QYzY0OTdTTm5qcnV0RVpFZkpib0VoWV9iUFh2SUl4TE1Tck5NVV9sYw&amp;q=https%3A%2F%2Fwires.onlinelibrary.wiley.com%2Fdoi%2Fepdf%2F10.1002%2Fwidm.1424&amp;v=vkrc3OUb9lI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A290-8B3A-4103-A00E-06244A24C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1548"/>
            <a:ext cx="9144000" cy="2006384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</a:rPr>
              <a:t>Interpretability of ML/DL Models</a:t>
            </a:r>
            <a:br>
              <a:rPr lang="en-US" sz="2400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br>
              <a:rPr lang="en-US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endParaRPr lang="en-IN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74BFB-7A18-4DF0-8E46-E05235A52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54313"/>
          </a:xfrm>
        </p:spPr>
        <p:txBody>
          <a:bodyPr>
            <a:no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Raghu Prasad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9845547471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www.kaushalya.tech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CEO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57037-1BA5-4CBD-8260-3759DECD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www.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kaushalya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DA70F-03AB-406E-88DC-93CC0743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708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1D3BD-21ED-4200-A35D-5864E79FF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AE32C-01B9-4D24-8F7D-680E6749A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Raghu Prasad – BE, MS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Total of 30 years of experience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7 years as a lecturer in an Engineering College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23 Years into IT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Worked with companies like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CISCO,CSC,ICICI,First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Apex – NTT Data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Currently into Corporate training and consultancy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Worked with corporates and public sector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Service Offerings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– In person/On-line/Corporate/Academic Institutes</a:t>
            </a:r>
          </a:p>
          <a:p>
            <a:r>
              <a:rPr lang="en-IN" sz="2900" b="1" dirty="0">
                <a:latin typeface="Arial" panose="020B0604020202020204" pitchFamily="34" charset="0"/>
                <a:cs typeface="Arial" panose="020B0604020202020204" pitchFamily="34" charset="0"/>
              </a:rPr>
              <a:t>Consultancy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– Consultant to vendor of Atal Tinkering Lab/ECIL-ECIT,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Incarnus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Healthcare Service Provider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Java,Python,Web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technologies,Java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Script technologies (MEAN stack),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IOT,Test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Automation,Machine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Learning,Artificial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Intelligence,ERP,.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NET,Cloud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Computing,Devops,MLOps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ILinkDigital,Operative,Flatworld,IQVIA,Sony,Philips,L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T,NextGen,Incarnus,Aspire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system,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NewHorizonCollege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Engineering,NIE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Mysore,Acharya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College Of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Engineering,SIT-Tumakuru,BGS-IT,Sindhi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College,Malnad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Enginering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College,S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B College of Management, REVA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University,Nagarjuna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Engineering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College,Dayanand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Sagar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University,NIT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-Imphal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3244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Interpretability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993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34A64-EAFE-45BC-9CCE-A0D887F4A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78AFD-2F09-4916-BA37-A771E8E18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F1964-E3FE-929D-FCC9-E4C3BC9D5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036" y="1484671"/>
            <a:ext cx="8487928" cy="483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0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F9C2C-607F-670D-2690-14788E51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A0A47-DD0B-3F20-5566-E93FBC4BD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based Interpretability –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EB3B4-88A3-2689-A8AD-1D7535E96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29B97B-02B8-F224-E19F-34599AF98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10" y="1602390"/>
            <a:ext cx="8278380" cy="38105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FB6283-649F-8CD4-296B-4C163D9B9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547859"/>
            <a:ext cx="10980174" cy="9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940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54514-B609-3FF7-3802-3ECA068B0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B61C-AB84-641B-22B3-046B7E541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based Interpretability –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FCB3F-2BA1-89F8-9650-C281F8AE7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A7DFA-71B0-3832-3D24-CC714E5C9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414" y="1733313"/>
            <a:ext cx="9469171" cy="33913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EF1394-989F-607D-1419-0DF031B87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259623"/>
            <a:ext cx="1084096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2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EDC6D-9AEF-F4AB-7DE8-7D398B35B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473B-996F-9B18-23D3-197C4944A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based Interpretability –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69CD1-E109-934A-E372-4EFA38C1E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967154-09DC-2706-31C8-04A85E1D3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073" y="1582995"/>
            <a:ext cx="8087854" cy="37559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3E0FF2-8104-849E-113D-47A8855A6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943" y="5473854"/>
            <a:ext cx="10440857" cy="124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070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A661D-3A7B-59CD-5C3A-428023549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621A-2630-650B-6B5F-73D2BF39E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based Interpretability –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29555-B4CA-6602-DC8B-5DECCEA5A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B24481-9900-9ECD-8A6A-11E0F8D14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941" y="1690688"/>
            <a:ext cx="9021434" cy="36962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682CC9-F73D-FECC-8843-CF6897615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138" y="5548880"/>
            <a:ext cx="9726382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742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C7937-F1AD-1B84-C71E-E2915E63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2D183-2D5A-6727-F9D6-129E3CE0B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86FED-552B-7672-D132-C7F560444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Referred papers: Interpreting Black‑Box Models: A Review on Explainable Artificial Intelligence: </a:t>
            </a:r>
            <a:r>
              <a:rPr lang="en-US" dirty="0">
                <a:hlinkClick r:id="rId3"/>
              </a:rPr>
              <a:t>https://link.springer.com/article/10....</a:t>
            </a:r>
            <a:r>
              <a:rPr lang="en-US" dirty="0"/>
              <a:t> Explainable artificial intelligence: an analytical review: </a:t>
            </a:r>
            <a:r>
              <a:rPr lang="en-US" dirty="0">
                <a:hlinkClick r:id="rId4"/>
              </a:rPr>
              <a:t>https://wires.onlinelibrary.wiley.com...</a:t>
            </a:r>
            <a:r>
              <a:rPr lang="en-US" dirty="0"/>
              <a:t> Benchmarking and survey of explanation methods for black box models: </a:t>
            </a:r>
            <a:r>
              <a:rPr lang="en-US" dirty="0">
                <a:hlinkClick r:id="rId5"/>
              </a:rPr>
              <a:t>https://link.springer.com/article/10....</a:t>
            </a:r>
            <a:r>
              <a:rPr lang="en-US" dirty="0"/>
              <a:t> "Why Should I Trust You?": Explaining the Predictions of Any Classifier </a:t>
            </a:r>
            <a:r>
              <a:rPr lang="en-US" dirty="0">
                <a:hlinkClick r:id="rId6"/>
              </a:rPr>
              <a:t>https://arxiv.org/pdf/1602.04938</a:t>
            </a:r>
            <a:r>
              <a:rPr lang="en-US" dirty="0"/>
              <a:t> 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40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A290-8B3A-4103-A00E-06244A24C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2356"/>
            <a:ext cx="9144000" cy="935575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74BFB-7A18-4DF0-8E46-E05235A52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54313"/>
          </a:xfrm>
        </p:spPr>
        <p:txBody>
          <a:bodyPr>
            <a:no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Raghu Prasad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9845547471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57037-1BA5-4CBD-8260-3759DECD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www.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kaushalya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DA70F-03AB-406E-88DC-93CC0743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42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11551</TotalTime>
  <Words>529</Words>
  <Application>Microsoft Office PowerPoint</Application>
  <PresentationFormat>Widescreen</PresentationFormat>
  <Paragraphs>58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 Theme</vt:lpstr>
      <vt:lpstr>Interpretability of ML/DL Models  </vt:lpstr>
      <vt:lpstr>Introduction</vt:lpstr>
      <vt:lpstr>Topics</vt:lpstr>
      <vt:lpstr>Interpretability</vt:lpstr>
      <vt:lpstr>Model based Interpretability – Linear Regression</vt:lpstr>
      <vt:lpstr>Model based Interpretability – Logistic Regression</vt:lpstr>
      <vt:lpstr>Model based Interpretability – Decision Tree</vt:lpstr>
      <vt:lpstr>Model based Interpretability – Neural Network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Basics</dc:title>
  <dc:creator>raghu prasad</dc:creator>
  <cp:lastModifiedBy>raghu prasad konandur</cp:lastModifiedBy>
  <cp:revision>766</cp:revision>
  <dcterms:created xsi:type="dcterms:W3CDTF">2017-06-25T15:07:02Z</dcterms:created>
  <dcterms:modified xsi:type="dcterms:W3CDTF">2025-09-21T11:48:53Z</dcterms:modified>
</cp:coreProperties>
</file>